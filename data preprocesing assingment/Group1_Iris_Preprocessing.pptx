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E65C1F-6D8F-436A-AE96-87928C371465}">
  <a:tblStyle styleId="{FFE65C1F-6D8F-436A-AE96-87928C3714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-274320"/>
            <a:ext cx="2926080" cy="2926080"/>
          </a:xfrm>
          <a:prstGeom prst="ellipse">
            <a:avLst/>
          </a:prstGeom>
          <a:solidFill>
            <a:srgbClr val="243F7A"/>
          </a:solidFill>
          <a:ln cap="flat" cmpd="sng" w="12700">
            <a:solidFill>
              <a:srgbClr val="243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1097280"/>
            <a:ext cx="109728" cy="29260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CSC 62201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1463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Fundamentals of Machine Learning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196596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4: Data Preprocessing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33375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Group 1  •  Iris Dataset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2035"/>
          </a:solidFill>
          <a:ln cap="flat" cmpd="sng" w="12700">
            <a:solidFill>
              <a:srgbClr val="15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Source: UCI Machine Learning Repository — archive.ics.uci.edu/ml/datasets/iris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 Pipeline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74320" y="868680"/>
            <a:ext cx="2834640" cy="1737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74320" y="868680"/>
            <a:ext cx="28346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11480" y="9784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606040" y="960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480" y="128016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Dataset Exploration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46120" y="868680"/>
            <a:ext cx="2834640" cy="1737360"/>
          </a:xfrm>
          <a:prstGeom prst="rect">
            <a:avLst/>
          </a:prstGeom>
          <a:solidFill>
            <a:srgbClr val="FFF9F0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46120" y="868680"/>
            <a:ext cx="28346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383280" y="9784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577840" y="960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383280" y="128016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Identify Data Issues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17920" y="868680"/>
            <a:ext cx="2834640" cy="173736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217920" y="868680"/>
            <a:ext cx="28346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355080" y="9784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549640" y="960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🩹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355080" y="128016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Handle Missing Values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74320" y="2834640"/>
            <a:ext cx="2834640" cy="1737360"/>
          </a:xfrm>
          <a:prstGeom prst="rect">
            <a:avLst/>
          </a:prstGeom>
          <a:solidFill>
            <a:srgbClr val="FDF4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74320" y="2834640"/>
            <a:ext cx="28346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11480" y="29443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606040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11480" y="324612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Encode Categorical Vars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46120" y="2834640"/>
            <a:ext cx="2834640" cy="173736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246120" y="2834640"/>
            <a:ext cx="28346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383280" y="29443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Task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577840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383280" y="324612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Feature Scaling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217920" y="2834640"/>
            <a:ext cx="2834640" cy="173736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217920" y="2834640"/>
            <a:ext cx="28346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355080" y="29443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Task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8549640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355080" y="324612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Features &amp; Labels (X, 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081528" y="16002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053328" y="16002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434840" y="25603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081528" y="35661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053328" y="35661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143000" y="10972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Exploration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74320" y="822960"/>
            <a:ext cx="4114800" cy="1005840"/>
          </a:xfrm>
          <a:prstGeom prst="rect">
            <a:avLst/>
          </a:prstGeom>
          <a:solidFill>
            <a:srgbClr val="D6E8F9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11480" y="8686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📋  What the task wants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11480" y="114300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Load the dataset and find out: rows &amp; columns, feature names, label column, and data types.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74320" y="190195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📊 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" name="Google Shape;82;p5"/>
          <p:cNvGraphicFramePr/>
          <p:nvPr/>
        </p:nvGraphicFramePr>
        <p:xfrm>
          <a:off x="27432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{FFE65C1F-6D8F-436A-AE96-87928C371465}</a:tableStyleId>
              </a:tblPr>
              <a:tblGrid>
                <a:gridCol w="1645925"/>
                <a:gridCol w="2468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Rows × Columns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 ×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 (X)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sepal_length, sepal_width, petal_length, petal_width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Label (y)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Data 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float64 (decimal numbers)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Label Data 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 (text / category)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" name="Google Shape;83;p5"/>
          <p:cNvSpPr/>
          <p:nvPr/>
        </p:nvSpPr>
        <p:spPr>
          <a:xfrm>
            <a:off x="4663440" y="822960"/>
            <a:ext cx="4206240" cy="2286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800600" y="91440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001768" y="91440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202936" y="91440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754880" y="1115568"/>
            <a:ext cx="4023360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column names — file has no header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column_names = [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'sepal_length', 'sepal_width',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'petal_length', 'petal_width',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'species'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pd.read_csv('iris.data',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header=None, names=column_names)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663440" y="3200400"/>
            <a:ext cx="4206240" cy="1600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800600" y="329184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001768" y="329184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202936" y="329184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754880" y="3493008"/>
            <a:ext cx="4023360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print(df.shape)     # (150, 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print(df.dtypes)    # types per 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print(df.head())    # first 5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143000" y="10972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Data Issues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74320" y="822960"/>
            <a:ext cx="2011680" cy="13716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274320" y="868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65760" y="129844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65760" y="1645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All columns: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missing data found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450592" y="822960"/>
            <a:ext cx="2011680" cy="137160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450592" y="868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542032" y="129844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Duplicate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542032" y="1645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3 duplicate rows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found in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26864" y="822960"/>
            <a:ext cx="2011680" cy="1371600"/>
          </a:xfrm>
          <a:prstGeom prst="rect">
            <a:avLst/>
          </a:prstGeom>
          <a:solidFill>
            <a:srgbClr val="D6E8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626864" y="868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718304" y="129844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6FBF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718304" y="1645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float64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str (species)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03136" y="822960"/>
            <a:ext cx="2011680" cy="137160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803136" y="868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894576" y="129844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Outliers (IQR)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894576" y="1645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sepal_width: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Other features: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74320" y="2331720"/>
            <a:ext cx="4114800" cy="10058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11480" y="242316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12648" y="242316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13816" y="242316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65760" y="2624328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Missing values &amp; 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print(df.isnull().sum())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print(df.duplicated().sum())  # →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663440" y="2331720"/>
            <a:ext cx="4206240" cy="2377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800600" y="242316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001768" y="242316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202936" y="242316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754880" y="2624328"/>
            <a:ext cx="40233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Outlier detection — IQR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for col in feature_cols: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Q1  = df[col].quantile(0.25)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Q3  = df[col].quantile(0.75)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IQR = Q3 - 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low  = Q1 - 1.5 * IQR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high = Q3 + 1.5 * IQR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out  = df[(df[col]&lt;low)|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(df[col]&gt;high)]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print(len(out), 'outlier(s)')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74320" y="3401568"/>
            <a:ext cx="4114800" cy="13258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11480" y="34564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💡  IQR Method Explained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11480" y="3776472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Sort values → find Q1 (25%) and Q3 (75%).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IQR = Q3 − Q1  (middle 50% of data).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Outlier = below Q1−1.5×IQR  OR  above Q3+1.5×IQR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43000" y="10972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Handle Missing Values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57200" y="86868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The Iris dataset has NO real missing values. We introduce 5 artificial ones to demonstrate the technique.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74320" y="1481328"/>
            <a:ext cx="2743200" cy="1371600"/>
          </a:xfrm>
          <a:prstGeom prst="rect">
            <a:avLst/>
          </a:prstGeom>
          <a:solidFill>
            <a:srgbClr val="D6E8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74320" y="1481328"/>
            <a:ext cx="27432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84048" y="157276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Remove the 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84048" y="1965960"/>
            <a:ext cx="2542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Delete any row that has an empty cell.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Best when very few rows are missing.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200400" y="1481328"/>
            <a:ext cx="2743200" cy="13716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3200400" y="1481328"/>
            <a:ext cx="27432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3310128" y="157276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Fill with Mean (used ✓)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310128" y="1965960"/>
            <a:ext cx="2542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Replace empty cell with the average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of that column. Good for normal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126480" y="1481328"/>
            <a:ext cx="2743200" cy="1371600"/>
          </a:xfrm>
          <a:prstGeom prst="rect">
            <a:avLst/>
          </a:prstGeom>
          <a:solidFill>
            <a:srgbClr val="FDF4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126480" y="1481328"/>
            <a:ext cx="27432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236208" y="157276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Fill with Mode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236208" y="1965960"/>
            <a:ext cx="2542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Replace empty cell with the most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frequent value. Good for categories.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74320" y="2971800"/>
            <a:ext cx="85953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11480" y="306324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12648" y="306324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13816" y="306324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365760" y="3264408"/>
            <a:ext cx="841248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df_demo = df.copy()                        # copy — don't touch original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np.random.seed(42)                         # makes randomness repeatable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idx = np.random.choice(df_demo.index, 5)  # pick 5 random row positions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df_demo.loc[idx, 'sepal_length'] = np.nan # set those rows to empty (NaN)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mean_val = df_demo['sepal_length'].mean()  # calculate column average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df_demo['sepal_length'] = df_demo['sepal_length'].fillna(mean_val)  # fill empty cells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Result → Missing BEFORE: 5     Missing AFTER: 0     Mean used: 5.82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143000" y="10972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 Categorical Variables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solidFill>
            <a:srgbClr val="D6E8F9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57200" y="86868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💡  ML models only understand numbers — not words like 'Iris-setosa'. We convert the species column to numbers.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74320" y="15087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Method 1 — Label Encoding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74320" y="1874520"/>
            <a:ext cx="411480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11480" y="196596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12648" y="196596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813816" y="196596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65760" y="2167128"/>
            <a:ext cx="393192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le = LabelEncoder()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df['species_label'] = le.fit_transform(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  df['species'])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Iris-setosa→0  versicolor→1  virginica→2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8"/>
          <p:cNvGraphicFramePr/>
          <p:nvPr/>
        </p:nvGraphicFramePr>
        <p:xfrm>
          <a:off x="274320" y="3154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{FFE65C1F-6D8F-436A-AE96-87928C371465}</a:tableStyleId>
              </a:tblPr>
              <a:tblGrid>
                <a:gridCol w="2743200"/>
                <a:gridCol w="13716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species_label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Iris-setosa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Iris-versicolor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Iris-virginica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8"/>
          <p:cNvSpPr/>
          <p:nvPr/>
        </p:nvSpPr>
        <p:spPr>
          <a:xfrm>
            <a:off x="4663440" y="150876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Method 2 — One-Hot Encoding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663440" y="1874520"/>
            <a:ext cx="42062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800600" y="196596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5001768" y="196596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5202936" y="196596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754880" y="2167128"/>
            <a:ext cx="40233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df_ohe = pd.get_dummies(df,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columns=['species'],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prefix='species')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Creates 3 True/False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8"/>
          <p:cNvGraphicFramePr/>
          <p:nvPr/>
        </p:nvGraphicFramePr>
        <p:xfrm>
          <a:off x="4663440" y="3154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{FFE65C1F-6D8F-436A-AE96-87928C371465}</a:tableStyleId>
              </a:tblPr>
              <a:tblGrid>
                <a:gridCol w="1399025"/>
                <a:gridCol w="1408175"/>
                <a:gridCol w="13990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setosa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versicolor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virginica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143000" y="10972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Scaling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solidFill>
            <a:srgbClr val="D6E8F9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57200" y="86868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💡  Different features have different value ranges. Scaling makes all features contribute equally to the model.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274320" y="15087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Min-Max Normalization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274320" y="1874520"/>
            <a:ext cx="4114800" cy="4572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11480" y="19202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Courier New"/>
                <a:ea typeface="Courier New"/>
                <a:cs typeface="Courier New"/>
                <a:sym typeface="Courier New"/>
              </a:rPr>
              <a:t>Formula:  x' = (x − min) / (max − min)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74320" y="2423160"/>
            <a:ext cx="4114800" cy="1188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11480" y="251460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612648" y="251460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813816" y="251460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65760" y="2715768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mm_scaler = MinMaxScaler()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df_normalized = pd.DataFrame(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mm_scaler.fit_transform(features),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columns=feature_cols)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All values now between 0 and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74320" y="3675888"/>
            <a:ext cx="4114800" cy="9144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11480" y="3730752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Result: smallest value → 0,  largest →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Output range is always [0, 1].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Best for: neural networks, KNN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663440" y="150876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Z-score Standardization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663440" y="1874520"/>
            <a:ext cx="4206240" cy="4572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800600" y="19202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Courier New"/>
                <a:ea typeface="Courier New"/>
                <a:cs typeface="Courier New"/>
                <a:sym typeface="Courier New"/>
              </a:rPr>
              <a:t>Formula:  x' = (x − mean) / std_dev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663440" y="2423160"/>
            <a:ext cx="4206240" cy="1188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800600" y="251460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5001768" y="251460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202936" y="251460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754880" y="2715768"/>
            <a:ext cx="40233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std_scaler = StandardScaler()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df_standardized = pd.DataFrame(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std_scaler.fit_transform(features),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  columns=feature_cols)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Mean=0, Std=1 for every column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663440" y="3675888"/>
            <a:ext cx="4206240" cy="914400"/>
          </a:xfrm>
          <a:prstGeom prst="rect">
            <a:avLst/>
          </a:prstGeom>
          <a:solidFill>
            <a:srgbClr val="D6E8F9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800600" y="3730752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✅  Result: mean → 0,  std →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Values above avg = positive,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below avg = negative.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Best for: SVM, logistic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320040" y="118872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143000" y="10972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Features and Labels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solidFill>
            <a:srgbClr val="D6E8F9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86868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💡  Every supervised ML model needs: X (inputs = what we know) and y (label = what we predict).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274320" y="1508760"/>
            <a:ext cx="4114800" cy="2468880"/>
          </a:xfrm>
          <a:prstGeom prst="rect">
            <a:avLst/>
          </a:prstGeom>
          <a:solidFill>
            <a:srgbClr val="EFF6FF"/>
          </a:solidFill>
          <a:ln cap="flat" cmpd="sng" w="254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274320" y="1508760"/>
            <a:ext cx="4114800" cy="502920"/>
          </a:xfrm>
          <a:prstGeom prst="rect">
            <a:avLst/>
          </a:prstGeom>
          <a:solidFill>
            <a:srgbClr val="1F6FBF"/>
          </a:solidFill>
          <a:ln cap="flat" cmpd="sng" w="12700">
            <a:solidFill>
              <a:srgbClr val="1F6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11480" y="153619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  —  Feature Matrix  (Inputs)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11480" y="2121408"/>
            <a:ext cx="201168" cy="2011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85800" y="21031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ourier New"/>
                <a:ea typeface="Courier New"/>
                <a:cs typeface="Courier New"/>
                <a:sym typeface="Courier New"/>
              </a:rPr>
              <a:t>sepal_length  (cm)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11480" y="2560320"/>
            <a:ext cx="201168" cy="2011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85800" y="254203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ourier New"/>
                <a:ea typeface="Courier New"/>
                <a:cs typeface="Courier New"/>
                <a:sym typeface="Courier New"/>
              </a:rPr>
              <a:t>sepal_width   (cm)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11480" y="2999232"/>
            <a:ext cx="201168" cy="2011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85800" y="298094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ourier New"/>
                <a:ea typeface="Courier New"/>
                <a:cs typeface="Courier New"/>
                <a:sym typeface="Courier New"/>
              </a:rPr>
              <a:t>petal_length  (cm)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11480" y="3438144"/>
            <a:ext cx="201168" cy="2011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85800" y="341985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ourier New"/>
                <a:ea typeface="Courier New"/>
                <a:cs typeface="Courier New"/>
                <a:sym typeface="Courier New"/>
              </a:rPr>
              <a:t>petal_width   (cm)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11480" y="3794760"/>
            <a:ext cx="38404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Shape: (150, 4)   →   150 flowers × 4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407408" y="256032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754880" y="1508760"/>
            <a:ext cx="4114800" cy="246888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4754880" y="1508760"/>
            <a:ext cx="411480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892040" y="153619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 —  Label Vector  (Output)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892040" y="2084832"/>
            <a:ext cx="3840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Column:  species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Classes (3 total):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 • Iris-setosa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 • Iris-versicolor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 • Iris-virginica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892040" y="3794760"/>
            <a:ext cx="38404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Shape: (150,)   →   one label per flower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411480" y="416052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612648" y="4160520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813816" y="4160520"/>
            <a:ext cx="128016" cy="128016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365760" y="4361688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X = df[['sepal_length','sepal_width','petal_length','petal_width']]   # shape (150, 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y = df['species']                                                      # shape (150,)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Complete ✅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Iris dataset is now fully preprocessed and ready for ML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365760" y="1325880"/>
            <a:ext cx="8412480" cy="512064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57200" y="1417320"/>
            <a:ext cx="329184" cy="329184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57200" y="14173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868680" y="138074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Task 1  —  Explored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3108960" y="138074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150 rows × 5 cols, float64 features, categorical label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65760" y="1911096"/>
            <a:ext cx="8412480" cy="512064"/>
          </a:xfrm>
          <a:prstGeom prst="rect">
            <a:avLst/>
          </a:prstGeom>
          <a:solidFill>
            <a:srgbClr val="172B45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57200" y="2002536"/>
            <a:ext cx="329184" cy="329184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57200" y="200253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868680" y="196596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Task 2  —  Inspected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108960" y="1965960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missing values, 3 duplicates found, 4 outliers in sepal_width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65760" y="2496312"/>
            <a:ext cx="8412480" cy="512064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57200" y="2587752"/>
            <a:ext cx="329184" cy="329184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57200" y="25877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868680" y="2551176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Task 3  —  Cleaned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108960" y="2551176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Demonstrated mean-fill strategy for handling missing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65760" y="3081528"/>
            <a:ext cx="8412480" cy="512064"/>
          </a:xfrm>
          <a:prstGeom prst="rect">
            <a:avLst/>
          </a:prstGeom>
          <a:solidFill>
            <a:srgbClr val="172B45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57200" y="3172968"/>
            <a:ext cx="329184" cy="329184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57200" y="31729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868680" y="313639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Task 4  —  Encoded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108960" y="3136392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Label Encoding (0/1/2) + One-Hot Encoding (True/False cols)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65760" y="3666744"/>
            <a:ext cx="8412480" cy="512064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57200" y="3758184"/>
            <a:ext cx="329184" cy="329184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57200" y="37581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868680" y="372160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Task 5  —  Scaled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108960" y="3721608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Min-Max Normalization [0,1]  +  Z-score Standardization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65760" y="4251960"/>
            <a:ext cx="8412480" cy="512064"/>
          </a:xfrm>
          <a:prstGeom prst="rect">
            <a:avLst/>
          </a:prstGeom>
          <a:solidFill>
            <a:srgbClr val="172B45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57200" y="4343400"/>
            <a:ext cx="329184" cy="329184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57200" y="43434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868680" y="430682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Task 6  — 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108960" y="430682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X = 4 numeric features   |   y = species (label to predict)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Group 1  •  CSC 62201  •  Week 4 Practical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